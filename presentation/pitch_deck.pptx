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ature.com/articles/533452a" TargetMode="External"/><Relationship Id="rId3" Type="http://schemas.openxmlformats.org/officeDocument/2006/relationships/hyperlink" Target="https://arxiv.org/abs/2012.04603" TargetMode="External"/><Relationship Id="rId4" Type="http://schemas.openxmlformats.org/officeDocument/2006/relationships/hyperlink" Target="https://www.siemens.com" TargetMode="External"/><Relationship Id="rId5" Type="http://schemas.openxmlformats.org/officeDocument/2006/relationships/hyperlink" Target="https://www.aberdeen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ungnguyen-1601/T011-rav19-planbenc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" cy="3931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VINUNI AI20K — TRACK 3: AGENTIC AI &amp; ROBOTICS</a:t>
            </a:r>
          </a:p>
          <a:p>
            <a:pPr>
              <a:spcAft>
                <a:spcPts val="1400"/>
              </a:spcAft>
              <a:defRPr sz="4800" b="1">
                <a:solidFill>
                  <a:srgbClr val="0B4F6C"/>
                </a:solidFill>
                <a:latin typeface="Segoe UI"/>
              </a:defRPr>
            </a:pPr>
            <a:r>
              <a:t>Agentic AI PlanBench</a:t>
            </a:r>
          </a:p>
          <a:p>
            <a:pPr>
              <a:spcAft>
                <a:spcPts val="2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Nền tảng Benchmark &amp; Thẩm định Thuật toán Điều hướng AMR/AGV Công bằng với Agentic AI Phản biện &amp; Human-in-the-Loop</a:t>
            </a:r>
          </a:p>
          <a:p>
            <a:pPr>
              <a:defRPr sz="1800" b="1">
                <a:solidFill>
                  <a:srgbClr val="0B4F6C"/>
                </a:solidFill>
                <a:latin typeface="Segoe UI"/>
              </a:defRPr>
            </a:pPr>
            <a:r>
              <a:t>Đội thi: Team T011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486400"/>
            <a:ext cx="987552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[CẦN BỔ SUNG]: Điền ngày chính xác Demo Day và chèn file ảnh Logo của Team vào góc phải phía trên.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1. Vấn đề &amp; Nỗi đau Thực tế (Problem Statement)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B4F6C"/>
                </a:solidFill>
                <a:latin typeface="Segoe UI"/>
              </a:defRPr>
            </a:pPr>
            <a:r>
              <a:t>🔥 CÁC NỖI ĐAU CHÍNH (PAIN POINTS)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• Thiếu môi trường so sánh công bằng: Các thuật toán (A*, DWA, PPO, Nav2) thường công bố số liệu cherry-picking trên điều kiện giả lập khác biệt.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• Rủi ro va chạm &amp; thiệt hại thực tế: Thử nghiệm thuật toán lỗi trên robot thật trong kho bãi gây hỏng thiết bị và gián đoạn dây chuyền.</a:t>
            </a:r>
          </a:p>
          <a:p>
            <a:pPr>
              <a:spcAft>
                <a:spcPts val="800"/>
              </a:spcAft>
              <a:defRPr sz="1350">
                <a:solidFill>
                  <a:srgbClr val="0F172A"/>
                </a:solidFill>
              </a:defRPr>
            </a:pPr>
            <a:r>
              <a:t>• AI thông thường bịa số (Hallucination): Dùng LLM tóm tắt báo cáo kỹ thuật dễ dẫn đến bịa số liệu/phóng đại độ an toàn.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5780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B4F6C"/>
                </a:solidFill>
                <a:latin typeface="Segoe UI"/>
              </a:defRPr>
            </a:pPr>
            <a:r>
              <a:t>🎯 ĐỐI TƯỢNG &amp; SỐ LIỆU THỰC TẾ</a:t>
            </a:r>
          </a:p>
          <a:p>
            <a:pPr>
              <a:spcAft>
                <a:spcPts val="1000"/>
              </a:spcAft>
              <a:defRPr sz="1350">
                <a:solidFill>
                  <a:srgbClr val="0F172A"/>
                </a:solidFill>
              </a:defRPr>
            </a:pPr>
            <a:r>
              <a:t>• Đối tượng mục tiêu: Kỹ sư Robotics, Nhà nghiên cứu Motion Planning, Quản lý đội xe tự hành AGV/AMR.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F172A"/>
                </a:solidFill>
              </a:rPr>
              <a:t>• &gt;70% nghiên cứu gặp khủng hoảng tái lập kết quả do thiếu môi trường chuẩn (</a:t>
            </a:r>
            <a:r>
              <a:rPr sz="1350" b="1" u="sng">
                <a:solidFill>
                  <a:srgbClr val="0369A1"/>
                </a:solidFill>
                <a:hlinkClick r:id="rId2"/>
              </a:rPr>
              <a:t>Nature Survey</a:t>
            </a:r>
            <a:r>
              <a:rPr sz="1350">
                <a:solidFill>
                  <a:srgbClr val="0F172A"/>
                </a:solidFill>
              </a:rPr>
              <a:t> &amp; </a:t>
            </a:r>
            <a:r>
              <a:rPr sz="1350" b="1" u="sng">
                <a:solidFill>
                  <a:srgbClr val="0369A1"/>
                </a:solidFill>
                <a:hlinkClick r:id="rId3"/>
              </a:rPr>
              <a:t>AAAI Report</a:t>
            </a:r>
            <a:r>
              <a:rPr sz="1350">
                <a:solidFill>
                  <a:srgbClr val="0F172A"/>
                </a:solidFill>
              </a:rPr>
              <a:t>).</a:t>
            </a:r>
          </a:p>
          <a:p>
            <a:r>
              <a:rPr sz="1350">
                <a:solidFill>
                  <a:srgbClr val="0F172A"/>
                </a:solidFill>
              </a:rPr>
              <a:t>• Thiệt hại kinh tế: Chi phí dừng chuyền kho bãi do sự cố AGV/robot ước tính từ $10,000+ đến $100,000+/giờ (</a:t>
            </a:r>
            <a:r>
              <a:rPr sz="1350" b="1" u="sng">
                <a:solidFill>
                  <a:srgbClr val="0369A1"/>
                </a:solidFill>
                <a:hlinkClick r:id="rId4"/>
              </a:rPr>
              <a:t>Siemens Report</a:t>
            </a:r>
            <a:r>
              <a:rPr sz="1350">
                <a:solidFill>
                  <a:srgbClr val="0F172A"/>
                </a:solidFill>
              </a:rPr>
              <a:t> | </a:t>
            </a:r>
            <a:r>
              <a:rPr sz="1350" b="1" u="sng">
                <a:solidFill>
                  <a:srgbClr val="0369A1"/>
                </a:solidFill>
                <a:hlinkClick r:id="rId5"/>
              </a:rPr>
              <a:t>Aberdeen Group</a:t>
            </a:r>
            <a:r>
              <a:rPr sz="135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32120"/>
            <a:ext cx="107442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[NGUỒN TRÍCH DẪN ĐÃ XÁC THỰC]: Dữ liệu trích dẫn từ Nature (Baker et al., 2016), Kỷ yếu AAAI và Báo cáo The True Cost of Downtime của Siemens (Click vào tên nguồn để mở link).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2. Giải pháp PlanBench (Proposed Solution)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187451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400"/>
              </a:spcAft>
              <a:defRPr sz="1600" b="1">
                <a:solidFill>
                  <a:srgbClr val="0B4F6C"/>
                </a:solidFill>
                <a:latin typeface="Segoe UI"/>
              </a:defRPr>
            </a:pPr>
            <a:r>
              <a:t>1. Core-first &amp; 100% Tất định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Mọi chỉ số, vết di chuyển (trace) và kết quả sinh ra từ simulator engine thuần túy — LLM tuyệt đối không bao giờ được phép sinh ra số liệu.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57800" cy="187451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400"/>
              </a:spcAft>
              <a:defRPr sz="1600" b="1">
                <a:solidFill>
                  <a:srgbClr val="0B4F6C"/>
                </a:solidFill>
                <a:latin typeface="Segoe UI"/>
              </a:defRPr>
            </a:pPr>
            <a:r>
              <a:t>2. Bộ 6 Cổng Kiểm định (G1–G6)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Tự động chấm điểm loại trừ: G1 No-path, G2 Collision &amp; N_min, G3 Success, G4 Latency P99, G5 RAM, G6 Tương thích cảm biến.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5257800" cy="187451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400"/>
              </a:spcAft>
              <a:defRPr sz="1600" b="1">
                <a:solidFill>
                  <a:srgbClr val="0B4F6C"/>
                </a:solidFill>
                <a:latin typeface="Segoe UI"/>
              </a:defRPr>
            </a:pPr>
            <a:r>
              <a:t>3. AI Phản biện Độc lập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Agent AI đóng vai trò thẩm định viên khắt khe, chất vấn kết luận với cam kết 0% trích dẫn bịa đặt (fabricated_count = 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257800" cy="187451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400"/>
              </a:spcAft>
              <a:defRPr sz="1600" b="1">
                <a:solidFill>
                  <a:srgbClr val="0B4F6C"/>
                </a:solidFill>
                <a:latin typeface="Segoe UI"/>
              </a:defRPr>
            </a:pPr>
            <a:r>
              <a:t>4. Quy trình Human-in-the-Loop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Tự động tổng hợp Decision Card kèm khoảng tin cậy Bootstrap CI Delta U để kỹ sư con người xem xét và ký duyệt.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32120"/>
            <a:ext cx="107442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[CẦN BỔ SUNG]: Chèn ảnh minh họa / sơ đồ mockup tổng quan giải pháp vào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3. Trải nghiệm Sản phẩm Thực tế (Product Demo)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0B4F6C"/>
                </a:solidFill>
              </a:defRPr>
            </a:pPr>
            <a:r>
              <a:t>🌟 CÁC TÍNH NĂNG CHÍNH (KEY FEATURES)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✔ Map &amp; Scenario Studio: Vẽ bản đồ kho 2.5D, cấu hình mật độ giao thông, chướng ngại vật động.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✔ Simulation Engine: Mô phỏng song song các thuật toán (A*+DWA vs RL/PPO) cùng seed.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✔ Gate Review &amp; Replay: Xem lại quỹ đạo từng bước, chỉ rõ từng vi phạm cổng an toàn.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✔ Critique Panel: AI tự động xếp hạng phản biện, phát hiện điểm bất thường.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✔ Decision Card: Nghiệm thu kết quả và lưu vết kiểm toán Parquet.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371600"/>
            <a:ext cx="4983480" cy="3977639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1000"/>
              </a:spcAft>
              <a:defRPr sz="1600" b="1">
                <a:solidFill>
                  <a:srgbClr val="0B4F6C"/>
                </a:solidFill>
              </a:defRPr>
            </a:pPr>
            <a:r>
              <a:t>🔄 USER FLOW CHÍNH (5 BƯỚC)</a:t>
            </a:r>
          </a:p>
          <a:p>
            <a:pPr>
              <a:spcAft>
                <a:spcPts val="1000"/>
              </a:spcAft>
              <a:defRPr sz="1400" b="1">
                <a:solidFill>
                  <a:srgbClr val="0B4F6C"/>
                </a:solidFill>
              </a:defRPr>
            </a:pPr>
            <a:r>
              <a:t>➔ 1. Khai báo Deployment (Map + Traffic)</a:t>
            </a:r>
          </a:p>
          <a:p>
            <a:pPr>
              <a:spcAft>
                <a:spcPts val="1000"/>
              </a:spcAft>
              <a:defRPr sz="1400" b="1">
                <a:solidFill>
                  <a:srgbClr val="0B4F6C"/>
                </a:solidFill>
              </a:defRPr>
            </a:pPr>
            <a:r>
              <a:t>➔ 2. Chọn 2+ Ứng viên thuật toán</a:t>
            </a:r>
          </a:p>
          <a:p>
            <a:pPr>
              <a:spcAft>
                <a:spcPts val="1000"/>
              </a:spcAft>
              <a:defRPr sz="1400" b="1">
                <a:solidFill>
                  <a:srgbClr val="0B4F6C"/>
                </a:solidFill>
              </a:defRPr>
            </a:pPr>
            <a:r>
              <a:t>➔ 3. Chạy Mô phỏng Benchmark tự động</a:t>
            </a:r>
          </a:p>
          <a:p>
            <a:pPr>
              <a:spcAft>
                <a:spcPts val="1000"/>
              </a:spcAft>
              <a:defRPr sz="1400" b="1">
                <a:solidFill>
                  <a:srgbClr val="0B4F6C"/>
                </a:solidFill>
              </a:defRPr>
            </a:pPr>
            <a:r>
              <a:t>➔ 4. Xem Báo cáo &amp; Bật AI Phản biện</a:t>
            </a:r>
          </a:p>
          <a:p>
            <a:pPr>
              <a:spcAft>
                <a:spcPts val="1000"/>
              </a:spcAft>
              <a:defRPr sz="1400" b="1">
                <a:solidFill>
                  <a:srgbClr val="0B4F6C"/>
                </a:solidFill>
              </a:defRPr>
            </a:pPr>
            <a:r>
              <a:t>➔ 5. Ký duyệt &amp; Lưu Thẻ Quyết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32120"/>
            <a:ext cx="107442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[CẦN BỔ SUNG]: Chụp 1-2 ảnh màn hình giao diện thực tế từ web UI (trang /simulate hoặc /decisions) dán vào đây.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4. Kiến trúc Hệ thống (System Architecture)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300" b="1">
                <a:solidFill>
                  <a:srgbClr val="0B4F6C"/>
                </a:solidFill>
              </a:defRPr>
            </a:pPr>
            <a:r>
              <a:t>Tầng 1: Frontend — Next.js 15, React 19, Recharts, Interactive 2.5D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5486400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300" b="1">
                <a:solidFill>
                  <a:srgbClr val="0B4F6C"/>
                </a:solidFill>
              </a:defRPr>
            </a:pPr>
            <a:r>
              <a:t>Tầng 2: API Service — FastAPI (Lớp vỏ mỏng), SSE Streaming, OAuth &amp;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486400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300" b="1">
                <a:solidFill>
                  <a:srgbClr val="0B4F6C"/>
                </a:solidFill>
              </a:defRPr>
            </a:pPr>
            <a:r>
              <a:t>Tầng 3: Core Engine — Python thuần: LiDAR Raycasting, Kinematics, 6 Gates, 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5486400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0B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300" b="1">
                <a:solidFill>
                  <a:srgbClr val="0B4F6C"/>
                </a:solidFill>
              </a:defRPr>
            </a:pPr>
            <a:r>
              <a:t>Tầng 4: AI &amp; Audit — Agent Critique, TF-IDF RAG Docs, Hallucination Guard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83480" cy="379476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800"/>
              </a:spcAft>
              <a:defRPr sz="1550" b="1">
                <a:solidFill>
                  <a:srgbClr val="0B4F6C"/>
                </a:solidFill>
              </a:defRPr>
            </a:pPr>
            <a:r>
              <a:t>💡 TẠI SAO LỰA CHỌN TECH STACK NÀY?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Core-first &amp; Python thuần: Không phụ thuộc framework web, cho phép chạy headless CLI, CI/CD và tái lập kết quả trên mọi máy.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TF-IDF RAG (thay vì Vector DB nặng): Trích nguồn tất định từ docs/, chạy offline, không bị trôi dạt ngữ nghĩa.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SQLite + Parquet: SQLite lưu metadata nghiệp vụ; Parquet lưu hàng triệu bước trace mô phỏng có mã băm checksum.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442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[LƯU Ý THUYẾT TRÌNH]: Nhấn mạnh nguyên tắc Core-first và Determinism-first giúp hệ thống đạt độ tin cậy tuyệt đối so với các giải pháp AI đóng hộp.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5. Cách tiếp cận AI &amp; Cơ chế An toàn (AI Approach)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0B4F6C"/>
                </a:solidFill>
              </a:defRPr>
            </a:pPr>
            <a:r>
              <a:t>🤖 AGENT WORKFLOW &amp; READ-ONLY TOOLS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Bounded Tool Loop: Giới hạn tối đa 6 vòng lặp gọi công cụ để triệt tiêu nguy cơ treo luồng / lặp vô hạn.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Read-only Tool Registry: Agent chỉ có quyền đọc (list_deployments, get_recommendation, inspect_trace), không được sửa dữ liệu.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Multi-Provider Hub: Hỗ trợ Gemini, Claude, OpenAI và Deterministic Mock dự phòng khi offline.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5780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B91C1C"/>
                </a:solidFill>
              </a:defRPr>
            </a:pPr>
            <a:r>
              <a:t>🛡️ HALLUCINATION GUARD (CHỐNG ẢO GIÁC)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Rule Engine chạy trước: 15 quy tắc kiểm tra tất định (self_check.py) chạy làm mỏ neo trước khi gọi LLM.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Kiểm chứng trích dẫn resolve(): Mọi đường dẫn dữ liệu LLM trích dẫn đều được kiểm tra; trích dẫn sai bị loại và công khai fabricated_count.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Cấm ngôn ngữ phóng đại (assert_no_banned_language): Chặn các từ ngữ kết luận chủ quan như 'an toàn tuyệt đối'.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32120"/>
            <a:ext cx="107442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[KHẨU HIỆU CỐT LÕI]: 'LLM không bao giờ sinh ra số liệu — LLM chỉ đọc và chất vấn số liệu.'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6. Điểm nổi bật Kỹ thuật (Technical Highlights)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442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452360"/>
              </a:tblGrid>
              <a:tr h="795527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 marL="164592" marR="164592"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 tiết Kỹ thuật Triển khai</a:t>
                      </a:r>
                    </a:p>
                  </a:txBody>
                  <a:tcPr marL="164592" marR="164592">
                    <a:solidFill>
                      <a:srgbClr val="0B4F6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Quy mô Test Suite</a:t>
                      </a:r>
                    </a:p>
                  </a:txBody>
                  <a:tcPr marL="164592" marR="16459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Hơn 3.290+ Test Cases tự động (Unit, Integration, Golden Traces, Fairness checks)</a:t>
                      </a:r>
                    </a:p>
                  </a:txBody>
                  <a:tcPr marL="164592" marR="164592">
                    <a:solidFill>
                      <a:srgbClr val="F8FAFC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Đo lường Chuẩn xác</a:t>
                      </a:r>
                    </a:p>
                  </a:txBody>
                  <a:tcPr marL="164592" marR="16459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CPU Core Pinning (hostinfo.py): Giảm nhiễu đo trễ từ 59.3 ms (unpinned) xuống 16.1 ms (pinned)</a:t>
                      </a:r>
                    </a:p>
                  </a:txBody>
                  <a:tcPr marL="164592" marR="164592">
                    <a:solidFill>
                      <a:srgbClr val="F1F5F9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CI/CD Pipeline</a:t>
                      </a:r>
                    </a:p>
                  </a:txBody>
                  <a:tcPr marL="164592" marR="16459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GitHub Actions tự động kiểm thử đa nền tảng (Ubuntu Linux &amp; Windows) với Python 3.12</a:t>
                      </a:r>
                    </a:p>
                  </a:txBody>
                  <a:tcPr marL="164592" marR="164592">
                    <a:solidFill>
                      <a:srgbClr val="F8FAFC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Zero-crash Architecture</a:t>
                      </a:r>
                    </a:p>
                  </a:txBody>
                  <a:tcPr marL="164592" marR="16459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Tự động fallback về Mock khi mất API key; fallback về SQLite khi thiếu PostgreSQL</a:t>
                      </a:r>
                    </a:p>
                  </a:txBody>
                  <a:tcPr marL="164592" marR="16459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486400"/>
            <a:ext cx="1074420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[ĐIỂM ĐÁNH GIÁ CAO]: Số lượng 3.290+ tests và kỹ thuật CPU Pinning là minh chứng thực tế cho tính nghiêm ngặt của dự án.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7. Video Demo Sản phẩm (Product Demo Video)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3977639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000"/>
              </a:spcAft>
              <a:defRPr sz="1600" b="1">
                <a:solidFill>
                  <a:srgbClr val="0B4F6C"/>
                </a:solidFill>
              </a:defRPr>
            </a:pPr>
            <a:r>
              <a:t>📺 [CẦN BỔ SUNG: LINK VIDEO &amp; QR CODE]</a:t>
            </a:r>
          </a:p>
          <a:p>
            <a:pPr>
              <a:defRPr sz="1350">
                <a:solidFill>
                  <a:srgbClr val="475569"/>
                </a:solidFill>
              </a:defRPr>
            </a:pPr>
            <a:r>
              <a:t>Dán mã QR và đường link YouTube video demo (thời lượng 2–3 phút) vào khu vực này trước buổi trình bày.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5780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B4F6C"/>
                </a:solidFill>
              </a:defRPr>
            </a:pPr>
            <a:r>
              <a:t>⏱️ KỊCH BẢN VIDEO DEMO (2:30 PHÚT)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[0:00 - 0:30] Giới thiệu bối cảnh bài toán và giao diện thiết lập Deployment.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[0:30 - 1:30] Chạy mô phỏng song song A*+DWA và PPO trên map kho có vật cản động.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[1:30 - 2:00] Bật AI Phản biện: Agent chỉ rõ vi phạm cổng an toàn G1 của PPO.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[2:00 - 2:30] Kiểm tra Decision Card, đối chiếu khoảng tin cậy và ký duyệt.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74420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[CẦN BỔ SUNG]: Tải video demo lên YouTube (Unlisted) và tạo mã QR để chèn vào khung bên trái.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8. Thách thức &amp; Bài học Kỹ thuật (Learnings)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0B4F6C"/>
                </a:solidFill>
              </a:defRPr>
            </a:pPr>
            <a:r>
              <a:t>⚡ THÁCH THỨC LỚN NHẤT &amp; CÁCH XỬ LÝ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Nhiễu thời gian thực trong giả lập: OS scheduler làm sai lệch độ trễ đo được giữa các lượt chạy ➔ Giải quyết bằng Core Pinning và seed tất định.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Ảo giác từ LLM: LLM suy đoán lý do không có trong trace ➔ Giải quyết bằng lớp lọc resolve() và ép LLM chạy sau 15 luật gốc.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5780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550" b="1">
                <a:solidFill>
                  <a:srgbClr val="0B4F6C"/>
                </a:solidFill>
              </a:defRPr>
            </a:pPr>
            <a:r>
              <a:t>📖 BÀI HỌC KỸ THUẬT &amp; CẢI TIẾN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Bài học cốt lõi: 'Contract-first và Determinism-first là nền tảng sống còn cho mọi hệ thống Benchmark robot.'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Nếu làm lại từ đầu: Sẽ thiết kế pipeline streaming trace Parquet ngay từ ngày đầu để tối ưu hóa bộ nhớ khi mô phỏng đồng thời hàng trăm robot.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32120"/>
            <a:ext cx="107442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[TỔNG KẾT]: Đúc kết bài học thực tế từ chính quá trình phát triển 3.290+ tests của dự án.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PLANBENCH PITCH DECK</a:t>
            </a:r>
          </a:p>
          <a:p>
            <a:pPr>
              <a:defRPr sz="2800" b="1">
                <a:solidFill>
                  <a:srgbClr val="0B4F6C"/>
                </a:solidFill>
                <a:latin typeface="Segoe UI"/>
              </a:defRPr>
            </a:pPr>
            <a:r>
              <a:t>9. Đội ngũ &amp; Định hướng Tương lai (Team &amp; Roadmap)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66360" cy="3977639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0B4F6C"/>
                </a:solidFill>
              </a:defRPr>
            </a:pPr>
            <a:r>
              <a:t>👥 ĐỘI NGŨ THỰC HIỆN (TEAM T011)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• Phạm Nguyễn Hùng Nguyên (2A202601279):</a:t>
            </a:r>
            <a:br/>
            <a:r>
              <a:t>  Team Lead – AI, Robotics, Simulation &amp; System Integration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• Tống Duy An (2A202601995):</a:t>
            </a:r>
            <a:br/>
            <a:r>
              <a:t>  Robotics, Algorithm &amp; Simulation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• Phạm Thái Sơn (2A202601984):</a:t>
            </a:r>
            <a:br/>
            <a:r>
              <a:t>  Backend, Database &amp; Platform</a:t>
            </a:r>
          </a:p>
          <a:p>
            <a:pPr>
              <a:spcAft>
                <a:spcPts val="600"/>
              </a:spcAft>
              <a:defRPr sz="1250">
                <a:solidFill>
                  <a:srgbClr val="0F172A"/>
                </a:solidFill>
              </a:defRPr>
            </a:pPr>
            <a:r>
              <a:t>• Nguyễn Hữu Khánh Tùng (2A202601781):</a:t>
            </a:r>
            <a:br/>
            <a:r>
              <a:t>  Frontend, Visualization &amp; 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57800" cy="397763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0B4F6C"/>
                </a:solidFill>
              </a:defRPr>
            </a:pPr>
            <a:r>
              <a:t>🚀 ROADMAP PHÁT TRIỂN TIẾP THEO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➔ Mô phỏng Multi-Agent: Hỗ trợ điều phối đội tàu nhiều robot (Multi-AMR fleet) tránh tắc nghẽn.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➔ 3D Simulator Bridge: Kết nối xuất dữ liệu sang NVIDIA Isaac Sim &amp; ROS2 Gazebo.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➔ World Models Integration: Tích hợp các mô hình thế giới và Foundation Models mới.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32120"/>
            <a:ext cx="1074420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 bIns="109728"/>
          <a:lstStyle/>
          <a:p>
            <a:pPr algn="ctr">
              <a:defRPr sz="1300" b="1">
                <a:solidFill>
                  <a:srgbClr val="92400E"/>
                </a:solidFill>
                <a:latin typeface="Segoe UI"/>
              </a:defRPr>
            </a:pPr>
            <a:r>
              <a:t>⚠️ [TỔNG KẾT]: Thông tin thành viên chuẩn trích xuất từ tài liệu chính thức của nhóm (docs/docs/README.md).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CẢM ƠN BAN GIÁM KHẢO VÀ HỘI ĐỒNG!</a:t>
            </a:r>
          </a:p>
          <a:p>
            <a:pPr algn="ctr">
              <a:spcAft>
                <a:spcPts val="2400"/>
              </a:spcAft>
              <a:defRPr sz="2400" b="1">
                <a:solidFill>
                  <a:srgbClr val="0284C7"/>
                </a:solidFill>
                <a:latin typeface="Segoe UI"/>
              </a:defRPr>
            </a:pPr>
            <a:r>
              <a:t>Q &amp; A — CHÚNG TÔI SẴN SÀNG GIẢI ĐÁP MỌI CÂU HỎI</a:t>
            </a:r>
          </a:p>
          <a:p>
            <a:pPr algn="ctr"/>
            <a:r>
              <a:rPr sz="1700">
                <a:solidFill>
                  <a:srgbClr val="CBD5E1"/>
                </a:solidFill>
                <a:latin typeface="Segoe UI"/>
              </a:rPr>
              <a:t>GitHub Repository: </a:t>
            </a:r>
            <a:r>
              <a:rPr sz="1700" b="1" u="sng">
                <a:solidFill>
                  <a:srgbClr val="0284C7"/>
                </a:solidFill>
                <a:hlinkClick r:id="rId2"/>
              </a:rPr>
              <a:t>github.com/hungnguyen-1601/T011-rav19-planbench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